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625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206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34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786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90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29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253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637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056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3485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015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2860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553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8537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49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724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b="1" dirty="0"/>
              <a:t>HealthCare Analytics Hub Dashboard User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dirty="0"/>
              <a:t>Professional Industry-Level Dashboard Navigation &amp; Performance Monitoring Guide</a:t>
            </a:r>
          </a:p>
          <a:p>
            <a:r>
              <a:rPr dirty="0"/>
              <a:t>Presented by: </a:t>
            </a:r>
            <a:r>
              <a:rPr lang="en-GB" dirty="0"/>
              <a:t>Aashish Kashyap</a:t>
            </a:r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386996" cy="5312946"/>
          </a:xfrm>
        </p:spPr>
        <p:txBody>
          <a:bodyPr>
            <a:normAutofit fontScale="85000" lnSpcReduction="20000"/>
          </a:bodyPr>
          <a:lstStyle/>
          <a:p>
            <a:r>
              <a:rPr lang="en-GB" sz="2800" dirty="0"/>
              <a:t>This dashboard is designed to monitor and </a:t>
            </a:r>
            <a:r>
              <a:rPr lang="en-GB" sz="2800" dirty="0" err="1"/>
              <a:t>analyze</a:t>
            </a:r>
            <a:r>
              <a:rPr lang="en-GB" sz="2800" dirty="0"/>
              <a:t> key healthcare metrics including: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Total patients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Billing amount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Doctor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Average billing value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Medical conditions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Insurance provider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2400" dirty="0"/>
              <a:t>Hospital performance</a:t>
            </a:r>
          </a:p>
          <a:p>
            <a:r>
              <a:rPr lang="en-GB" sz="2400" b="1" dirty="0"/>
              <a:t>Key Benefits:</a:t>
            </a:r>
          </a:p>
          <a:p>
            <a:r>
              <a:rPr lang="en-GB" sz="2400" dirty="0"/>
              <a:t>Real-time healthcare business insights</a:t>
            </a:r>
          </a:p>
          <a:p>
            <a:r>
              <a:rPr lang="en-GB" sz="2400" dirty="0"/>
              <a:t>Operational efficiency tracking</a:t>
            </a:r>
          </a:p>
          <a:p>
            <a:r>
              <a:rPr lang="en-GB" sz="2400" dirty="0"/>
              <a:t>Patient and revenue analysis</a:t>
            </a:r>
          </a:p>
          <a:p>
            <a:r>
              <a:rPr lang="en-GB" sz="2400" dirty="0"/>
              <a:t>Executive-level reporting</a:t>
            </a:r>
          </a:p>
          <a:p>
            <a:pPr>
              <a:buFont typeface="Arial" panose="020B0604020202020204" pitchFamily="34" charset="0"/>
              <a:buChar char="•"/>
            </a:pP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Main KPI Cards (Top Section)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 fontScale="70000" lnSpcReduction="20000"/>
          </a:bodyPr>
          <a:lstStyle/>
          <a:p>
            <a:pPr marL="514350" indent="-514350">
              <a:buAutoNum type="arabicPeriod"/>
            </a:pPr>
            <a:r>
              <a:rPr lang="en-GB" sz="2800" dirty="0"/>
              <a:t>Total Patient (49.95K)</a:t>
            </a:r>
          </a:p>
          <a:p>
            <a:r>
              <a:rPr lang="en-GB" sz="2400" dirty="0"/>
              <a:t>Displays total patient records</a:t>
            </a:r>
          </a:p>
          <a:p>
            <a:r>
              <a:rPr lang="en-GB" sz="2400" dirty="0"/>
              <a:t>Helps track patient volume trends</a:t>
            </a:r>
          </a:p>
          <a:p>
            <a:pPr marL="0" indent="0">
              <a:buNone/>
            </a:pPr>
            <a:r>
              <a:rPr lang="en-GB" sz="2800" dirty="0"/>
              <a:t>2. Total Billing Amount (1.27bn)</a:t>
            </a:r>
          </a:p>
          <a:p>
            <a:r>
              <a:rPr lang="en-GB" sz="2400" dirty="0"/>
              <a:t>Total generated revenue</a:t>
            </a:r>
          </a:p>
          <a:p>
            <a:r>
              <a:rPr lang="en-GB" sz="2400" dirty="0"/>
              <a:t>Useful for financial performance evaluation</a:t>
            </a:r>
          </a:p>
          <a:p>
            <a:pPr marL="0" indent="0">
              <a:buNone/>
            </a:pPr>
            <a:r>
              <a:rPr lang="en-GB" sz="2800" dirty="0"/>
              <a:t>3. Total Doctor (37.176K)</a:t>
            </a:r>
          </a:p>
          <a:p>
            <a:r>
              <a:rPr lang="en-GB" sz="2400" dirty="0"/>
              <a:t>Total active doctor records</a:t>
            </a:r>
          </a:p>
          <a:p>
            <a:r>
              <a:rPr lang="en-GB" sz="2400" dirty="0"/>
              <a:t>Workforce monitoring</a:t>
            </a:r>
          </a:p>
          <a:p>
            <a:pPr marL="0" indent="0">
              <a:buNone/>
            </a:pPr>
            <a:r>
              <a:rPr lang="en-GB" sz="2800" dirty="0"/>
              <a:t>4. </a:t>
            </a:r>
            <a:r>
              <a:rPr lang="en-GB" sz="2800" dirty="0" err="1"/>
              <a:t>Avg</a:t>
            </a:r>
            <a:r>
              <a:rPr lang="en-GB" sz="2800" dirty="0"/>
              <a:t> Amount (25.52K)</a:t>
            </a:r>
          </a:p>
          <a:p>
            <a:r>
              <a:rPr lang="en-GB" sz="2800" dirty="0"/>
              <a:t>Average billing amount per patient</a:t>
            </a:r>
          </a:p>
          <a:p>
            <a:r>
              <a:rPr lang="en-GB" sz="2800" dirty="0"/>
              <a:t>Revenue efficiency metric</a:t>
            </a:r>
          </a:p>
          <a:p>
            <a:r>
              <a:rPr lang="en-GB" sz="2800" b="1" dirty="0"/>
              <a:t>Industry Use:</a:t>
            </a:r>
          </a:p>
          <a:p>
            <a:r>
              <a:rPr lang="en-GB" sz="2800" dirty="0"/>
              <a:t>These KPIs provide quick executive summaries for healthcare administrators.</a:t>
            </a:r>
          </a:p>
          <a:p>
            <a:pPr marL="0" indent="0">
              <a:buNone/>
            </a:pPr>
            <a:endParaRPr lang="en-GB" sz="28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Filter Panel Usage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15190"/>
            <a:ext cx="8229600" cy="486056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dirty="0"/>
              <a:t>Available Filters:</a:t>
            </a:r>
          </a:p>
          <a:p>
            <a:r>
              <a:rPr lang="en-GB" sz="2800" dirty="0"/>
              <a:t>Date of Admission</a:t>
            </a:r>
          </a:p>
          <a:p>
            <a:r>
              <a:rPr lang="en-GB" sz="2800" dirty="0"/>
              <a:t>Test Results</a:t>
            </a:r>
          </a:p>
          <a:p>
            <a:pPr marL="0" indent="0">
              <a:buNone/>
            </a:pPr>
            <a:r>
              <a:rPr lang="en-GB" dirty="0"/>
              <a:t>Step-by-Step: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Select admission period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Apply test result category</a:t>
            </a:r>
          </a:p>
          <a:p>
            <a:pPr marL="514350" indent="-514350">
              <a:buFont typeface="+mj-lt"/>
              <a:buAutoNum type="arabicPeriod"/>
            </a:pPr>
            <a:r>
              <a:rPr lang="en-GB" sz="2800" dirty="0"/>
              <a:t>Dashboard visuals auto-refresh</a:t>
            </a:r>
          </a:p>
          <a:p>
            <a:pPr marL="0" indent="0">
              <a:buNone/>
            </a:pPr>
            <a:r>
              <a:rPr lang="en-GB" dirty="0"/>
              <a:t>Benefits:</a:t>
            </a:r>
          </a:p>
          <a:p>
            <a:r>
              <a:rPr lang="en-GB" sz="2800" dirty="0"/>
              <a:t>Customized reporting</a:t>
            </a:r>
          </a:p>
          <a:p>
            <a:r>
              <a:rPr lang="en-GB" sz="2800" dirty="0"/>
              <a:t>Monthly or yearly performance analysis</a:t>
            </a:r>
          </a:p>
          <a:p>
            <a:r>
              <a:rPr lang="en-GB" sz="2800" dirty="0" err="1"/>
              <a:t>atient</a:t>
            </a:r>
            <a:r>
              <a:rPr lang="en-GB" sz="2800" dirty="0"/>
              <a:t> outcome segmentation</a:t>
            </a:r>
            <a:endParaRPr sz="2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Left Navigation Menu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Monthly View: </a:t>
            </a:r>
            <a:endParaRPr lang="en-GB" dirty="0"/>
          </a:p>
          <a:p>
            <a:r>
              <a:rPr lang="en-GB" sz="2400" dirty="0"/>
              <a:t>Displays overall hospital operational summary</a:t>
            </a:r>
          </a:p>
          <a:p>
            <a:r>
              <a:rPr lang="en-GB" sz="2400" dirty="0"/>
              <a:t>Monthly KPI and trends</a:t>
            </a:r>
          </a:p>
          <a:p>
            <a:r>
              <a:rPr lang="en-GB" dirty="0"/>
              <a:t>Patient Details:</a:t>
            </a:r>
          </a:p>
          <a:p>
            <a:r>
              <a:rPr lang="en-GB" sz="2400" dirty="0"/>
              <a:t>Deep dive into patient demographics</a:t>
            </a:r>
          </a:p>
          <a:p>
            <a:r>
              <a:rPr lang="en-GB" sz="2400" dirty="0"/>
              <a:t>Gender distribution</a:t>
            </a:r>
          </a:p>
          <a:p>
            <a:r>
              <a:rPr lang="en-GB" sz="2400" dirty="0"/>
              <a:t>Medical condition details</a:t>
            </a:r>
          </a:p>
          <a:p>
            <a:pPr marL="0" indent="0">
              <a:buNone/>
            </a:pPr>
            <a:endParaRPr lang="en-GB" sz="2400" dirty="0"/>
          </a:p>
          <a:p>
            <a:endParaRPr lang="en-GB" sz="2400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Gender by Patient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Visualization Purpose:</a:t>
            </a:r>
          </a:p>
          <a:p>
            <a:r>
              <a:rPr sz="2400" dirty="0"/>
              <a:t>Male vs Female patient count</a:t>
            </a:r>
            <a:endParaRPr lang="en-GB" sz="2400" dirty="0"/>
          </a:p>
          <a:p>
            <a:r>
              <a:rPr lang="en-GB" sz="2400" dirty="0"/>
              <a:t>Percentage share by gender</a:t>
            </a:r>
          </a:p>
          <a:p>
            <a:r>
              <a:rPr lang="en-GB" dirty="0"/>
              <a:t>Business Value:</a:t>
            </a:r>
          </a:p>
          <a:p>
            <a:r>
              <a:rPr lang="en-GB" sz="2400" dirty="0"/>
              <a:t>Demographic healthcare planning</a:t>
            </a:r>
          </a:p>
          <a:p>
            <a:r>
              <a:rPr lang="en-GB" sz="2400" dirty="0"/>
              <a:t>Targeted treatment strategies</a:t>
            </a:r>
          </a:p>
          <a:p>
            <a:r>
              <a:rPr lang="en-GB" sz="2400" dirty="0"/>
              <a:t>Resource allocation optimization</a:t>
            </a:r>
          </a:p>
          <a:p>
            <a:endParaRPr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Insurance Provider Billing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Chart Focus:</a:t>
            </a:r>
          </a:p>
          <a:p>
            <a:r>
              <a:rPr lang="en-GB" sz="2400" dirty="0"/>
              <a:t>Billing contribution by insurance provider</a:t>
            </a:r>
          </a:p>
          <a:p>
            <a:r>
              <a:rPr lang="en-GB" sz="2400" dirty="0"/>
              <a:t>Medicare and UnitedHealth comparison</a:t>
            </a:r>
          </a:p>
          <a:p>
            <a:r>
              <a:rPr lang="en-GB" dirty="0"/>
              <a:t>Step-by-Step Interpretation:</a:t>
            </a:r>
          </a:p>
          <a:p>
            <a:r>
              <a:rPr lang="en-GB" sz="2400" dirty="0"/>
              <a:t>Identify dominant insurer</a:t>
            </a:r>
          </a:p>
          <a:p>
            <a:r>
              <a:rPr lang="en-GB" sz="2400" dirty="0"/>
              <a:t>Measure revenue dependency</a:t>
            </a:r>
          </a:p>
          <a:p>
            <a:r>
              <a:rPr lang="en-GB" sz="2400" dirty="0"/>
              <a:t>Evaluate payer mix</a:t>
            </a:r>
          </a:p>
          <a:p>
            <a:pPr marL="0" indent="0">
              <a:buNone/>
            </a:pPr>
            <a:r>
              <a:rPr lang="en-GB" dirty="0"/>
              <a:t>Industry Benefit:</a:t>
            </a:r>
          </a:p>
          <a:p>
            <a:r>
              <a:rPr lang="en-GB" sz="2400" dirty="0"/>
              <a:t>Insurance partnership strategy</a:t>
            </a:r>
          </a:p>
          <a:p>
            <a:r>
              <a:rPr lang="en-GB" sz="2400" dirty="0"/>
              <a:t>Revenue risk management</a:t>
            </a:r>
          </a:p>
          <a:p>
            <a:r>
              <a:rPr lang="en-GB" sz="2400" dirty="0"/>
              <a:t>Contract negotiation support</a:t>
            </a:r>
            <a:endParaRPr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Medical Condition Billing by Gender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Conditions Included:</a:t>
            </a:r>
          </a:p>
          <a:p>
            <a:r>
              <a:rPr lang="en-GB" sz="2400" dirty="0"/>
              <a:t>Diabetes</a:t>
            </a:r>
          </a:p>
          <a:p>
            <a:r>
              <a:rPr lang="en-GB" sz="2400" dirty="0"/>
              <a:t>Hypertension</a:t>
            </a:r>
          </a:p>
          <a:p>
            <a:r>
              <a:rPr lang="en-GB" sz="2400" dirty="0"/>
              <a:t>Obesity</a:t>
            </a:r>
          </a:p>
          <a:p>
            <a:r>
              <a:rPr lang="en-GB" sz="2400" dirty="0"/>
              <a:t>Cancer</a:t>
            </a:r>
          </a:p>
          <a:p>
            <a:r>
              <a:rPr lang="en-GB" sz="2400" dirty="0"/>
              <a:t>Arthritis</a:t>
            </a:r>
          </a:p>
          <a:p>
            <a:r>
              <a:rPr lang="en-GB" sz="2400" dirty="0"/>
              <a:t>Asthma</a:t>
            </a:r>
          </a:p>
          <a:p>
            <a:pPr marL="0" indent="0">
              <a:buNone/>
            </a:pPr>
            <a:r>
              <a:rPr lang="en-GB" dirty="0"/>
              <a:t>User Guide:</a:t>
            </a:r>
          </a:p>
          <a:p>
            <a:r>
              <a:rPr lang="en-GB" sz="2400" dirty="0"/>
              <a:t>Compare male vs female billing</a:t>
            </a:r>
          </a:p>
          <a:p>
            <a:r>
              <a:rPr lang="en-GB" sz="2400" dirty="0"/>
              <a:t>Detect high-cost disease categories</a:t>
            </a:r>
          </a:p>
          <a:p>
            <a:r>
              <a:rPr lang="en-GB" sz="2400" dirty="0"/>
              <a:t>Support preventive healthcare planning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Test Results Billing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Categories:</a:t>
            </a:r>
          </a:p>
          <a:p>
            <a:r>
              <a:rPr sz="2400" dirty="0"/>
              <a:t>Normal</a:t>
            </a:r>
            <a:endParaRPr lang="en-GB" sz="2400" dirty="0"/>
          </a:p>
          <a:p>
            <a:r>
              <a:rPr sz="2400" dirty="0"/>
              <a:t>Abnormal</a:t>
            </a:r>
            <a:endParaRPr lang="en-GB" sz="2400" dirty="0"/>
          </a:p>
          <a:p>
            <a:r>
              <a:rPr sz="2400" dirty="0"/>
              <a:t>Inconclusive </a:t>
            </a:r>
            <a:endParaRPr lang="en-GB" sz="2400" dirty="0"/>
          </a:p>
          <a:p>
            <a:pPr marL="0" indent="0">
              <a:buNone/>
            </a:pPr>
            <a:r>
              <a:rPr lang="en-GB" dirty="0"/>
              <a:t>Purpose:</a:t>
            </a:r>
          </a:p>
          <a:p>
            <a:r>
              <a:rPr lang="en-GB" sz="2400" dirty="0" err="1"/>
              <a:t>Analyze</a:t>
            </a:r>
            <a:r>
              <a:rPr lang="en-GB" sz="2400" dirty="0"/>
              <a:t> diagnostic outcome trends</a:t>
            </a:r>
          </a:p>
          <a:p>
            <a:r>
              <a:rPr lang="en-GB" sz="2400" dirty="0"/>
              <a:t>Monitor testing quality</a:t>
            </a:r>
          </a:p>
          <a:p>
            <a:r>
              <a:rPr lang="en-GB" sz="2400" dirty="0"/>
              <a:t>Financial impact of diagnostic services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Hospital Performance Tree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4715" y="1417638"/>
            <a:ext cx="8229600" cy="5165724"/>
          </a:xfrm>
        </p:spPr>
        <p:txBody>
          <a:bodyPr>
            <a:normAutofit fontScale="77500" lnSpcReduction="20000"/>
          </a:bodyPr>
          <a:lstStyle/>
          <a:p>
            <a:r>
              <a:rPr lang="en-GB" dirty="0"/>
              <a:t>Hospitals Included:</a:t>
            </a:r>
          </a:p>
          <a:p>
            <a:r>
              <a:rPr lang="en-GB" sz="2400" dirty="0"/>
              <a:t>Cleveland Clinic</a:t>
            </a:r>
          </a:p>
          <a:p>
            <a:r>
              <a:rPr lang="en-GB" sz="2400" dirty="0"/>
              <a:t>UCLA Medical </a:t>
            </a:r>
            <a:r>
              <a:rPr lang="en-GB" sz="2400" dirty="0" err="1"/>
              <a:t>Center</a:t>
            </a:r>
            <a:endParaRPr lang="en-GB" sz="2400" dirty="0"/>
          </a:p>
          <a:p>
            <a:r>
              <a:rPr lang="en-GB" sz="2400" dirty="0"/>
              <a:t>Mayo Clinic</a:t>
            </a:r>
          </a:p>
          <a:p>
            <a:r>
              <a:rPr lang="en-GB" sz="2400" dirty="0"/>
              <a:t>Johns Hopkins</a:t>
            </a:r>
          </a:p>
          <a:p>
            <a:r>
              <a:rPr lang="en-GB" sz="2400" dirty="0"/>
              <a:t>Houston Methodist</a:t>
            </a:r>
          </a:p>
          <a:p>
            <a:r>
              <a:rPr lang="en-GB" sz="2400" dirty="0"/>
              <a:t>Cedars-Sinai</a:t>
            </a:r>
          </a:p>
          <a:p>
            <a:pPr marL="0" indent="0">
              <a:buNone/>
            </a:pPr>
            <a:r>
              <a:rPr lang="en-GB" dirty="0"/>
              <a:t>Step-by-Step:</a:t>
            </a:r>
          </a:p>
          <a:p>
            <a:r>
              <a:rPr lang="en-GB" sz="2400" dirty="0"/>
              <a:t>Compare patient volume by hospital</a:t>
            </a:r>
          </a:p>
          <a:p>
            <a:r>
              <a:rPr lang="en-GB" sz="2400" dirty="0"/>
              <a:t>Evaluate top-performing institutions</a:t>
            </a:r>
          </a:p>
          <a:p>
            <a:r>
              <a:rPr lang="en-GB" sz="2400" dirty="0"/>
              <a:t>Benchmark service utilization</a:t>
            </a:r>
          </a:p>
          <a:p>
            <a:pPr marL="0" indent="0">
              <a:buNone/>
            </a:pPr>
            <a:r>
              <a:rPr lang="en-GB" dirty="0"/>
              <a:t>Executive Value:</a:t>
            </a:r>
          </a:p>
          <a:p>
            <a:r>
              <a:rPr lang="en-GB" sz="2400" dirty="0"/>
              <a:t>Hospital network benchmarking</a:t>
            </a:r>
          </a:p>
          <a:p>
            <a:r>
              <a:rPr lang="en-GB" sz="2400" dirty="0"/>
              <a:t>Capacity management</a:t>
            </a:r>
          </a:p>
          <a:p>
            <a:r>
              <a:rPr lang="en-GB" sz="2400" dirty="0"/>
              <a:t>Strategic expansion planning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Monthly Trend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Monthly View Advantages:</a:t>
            </a:r>
          </a:p>
          <a:p>
            <a:r>
              <a:rPr lang="en-GB" sz="2400" dirty="0"/>
              <a:t>Seasonal patient patterns</a:t>
            </a:r>
          </a:p>
          <a:p>
            <a:r>
              <a:rPr lang="en-GB" sz="2400" dirty="0"/>
              <a:t>Revenue fluctuations</a:t>
            </a:r>
          </a:p>
          <a:p>
            <a:r>
              <a:rPr lang="en-GB" sz="2400" dirty="0"/>
              <a:t>Resource planning</a:t>
            </a:r>
          </a:p>
          <a:p>
            <a:r>
              <a:rPr lang="en-GB" sz="2400" dirty="0"/>
              <a:t>Staff forecasting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b="1" dirty="0"/>
              <a:t>Best Practices for Live Industry 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Recommended Workflow:</a:t>
            </a:r>
          </a:p>
          <a:p>
            <a:r>
              <a:rPr lang="en-GB" sz="2400" dirty="0"/>
              <a:t>Review KPI summary daily</a:t>
            </a:r>
          </a:p>
          <a:p>
            <a:r>
              <a:rPr lang="en-GB" sz="2400" dirty="0"/>
              <a:t>Apply filters for specific analysis</a:t>
            </a:r>
          </a:p>
          <a:p>
            <a:r>
              <a:rPr lang="en-GB" sz="2400" dirty="0"/>
              <a:t>Monitor billing by provider</a:t>
            </a:r>
          </a:p>
          <a:p>
            <a:r>
              <a:rPr lang="en-GB" sz="2400" dirty="0"/>
              <a:t>Track disease cost burden</a:t>
            </a:r>
          </a:p>
          <a:p>
            <a:r>
              <a:rPr lang="en-GB" sz="2400" dirty="0"/>
              <a:t>Benchmark hospitals regularly</a:t>
            </a:r>
          </a:p>
          <a:p>
            <a:r>
              <a:rPr lang="en-GB" sz="2400" dirty="0"/>
              <a:t>Export reports for management meetings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sz="4000" b="1" dirty="0"/>
              <a:t>Business Decisions Supported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Dashboard Supports:</a:t>
            </a:r>
          </a:p>
          <a:p>
            <a:r>
              <a:rPr lang="en-GB" sz="2400" dirty="0"/>
              <a:t>Revenue optimization</a:t>
            </a:r>
          </a:p>
          <a:p>
            <a:r>
              <a:rPr lang="en-GB" sz="2400" dirty="0"/>
              <a:t>Insurance negotiations</a:t>
            </a:r>
          </a:p>
          <a:p>
            <a:r>
              <a:rPr lang="en-GB" sz="2400" dirty="0"/>
              <a:t>Clinical program prioritization</a:t>
            </a:r>
          </a:p>
          <a:p>
            <a:r>
              <a:rPr lang="en-GB" sz="2400" dirty="0"/>
              <a:t>Operational efficiency improvements</a:t>
            </a:r>
          </a:p>
          <a:p>
            <a:r>
              <a:rPr lang="en-GB" sz="2400" dirty="0"/>
              <a:t>Patient demographic analysis</a:t>
            </a:r>
          </a:p>
          <a:p>
            <a:r>
              <a:rPr lang="en-GB" sz="2400" dirty="0"/>
              <a:t>Hospital performance benchmarking</a:t>
            </a:r>
          </a:p>
          <a:p>
            <a:pPr marL="0" indent="0"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sz="3200" b="1" dirty="0"/>
              <a:t>Conclusion &amp; Professional Recommendations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GB" dirty="0"/>
              <a:t>Final Summary:</a:t>
            </a:r>
          </a:p>
          <a:p>
            <a:r>
              <a:rPr lang="en-GB" sz="2400" dirty="0"/>
              <a:t>This dashboard provides:</a:t>
            </a:r>
          </a:p>
          <a:p>
            <a:r>
              <a:rPr lang="en-GB" sz="2400" dirty="0"/>
              <a:t>Comprehensive healthcare analytics</a:t>
            </a:r>
          </a:p>
          <a:p>
            <a:r>
              <a:rPr lang="en-GB" sz="2400" dirty="0"/>
              <a:t>Financial insights</a:t>
            </a:r>
          </a:p>
          <a:p>
            <a:r>
              <a:rPr lang="en-GB" sz="2400" dirty="0"/>
              <a:t>Patient demographic intelligence</a:t>
            </a:r>
          </a:p>
          <a:p>
            <a:r>
              <a:rPr lang="en-GB" sz="2400" dirty="0"/>
              <a:t>Hospital benchmarking</a:t>
            </a:r>
          </a:p>
          <a:p>
            <a:r>
              <a:rPr lang="en-GB" sz="2400" dirty="0"/>
              <a:t>Real-time decision support</a:t>
            </a:r>
          </a:p>
          <a:p>
            <a:pPr marL="0" indent="0">
              <a:buNone/>
            </a:pPr>
            <a:r>
              <a:rPr lang="en-GB" dirty="0"/>
              <a:t>Recommendations:</a:t>
            </a:r>
          </a:p>
          <a:p>
            <a:r>
              <a:rPr lang="en-GB" sz="2600" dirty="0"/>
              <a:t>Use daily for operations</a:t>
            </a:r>
          </a:p>
          <a:p>
            <a:r>
              <a:rPr lang="en-GB" sz="2600" dirty="0"/>
              <a:t>Use monthly for strategy</a:t>
            </a:r>
          </a:p>
          <a:p>
            <a:r>
              <a:rPr lang="en-GB" sz="2600" dirty="0"/>
              <a:t>Integrate with executive reporting</a:t>
            </a:r>
          </a:p>
          <a:p>
            <a:r>
              <a:rPr lang="en-GB" sz="2600" dirty="0"/>
              <a:t>Monitor trends continuously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58</TotalTime>
  <Words>485</Words>
  <Application>Microsoft Office PowerPoint</Application>
  <PresentationFormat>On-screen Show (4:3)</PresentationFormat>
  <Paragraphs>149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Century Gothic</vt:lpstr>
      <vt:lpstr>Wingdings 3</vt:lpstr>
      <vt:lpstr>Wisp</vt:lpstr>
      <vt:lpstr>HealthCare Analytics Hub Dashboard User Guide</vt:lpstr>
      <vt:lpstr>Dashboard Overview</vt:lpstr>
      <vt:lpstr>Main KPI Cards (Top Section)</vt:lpstr>
      <vt:lpstr>Filter Panel Usage</vt:lpstr>
      <vt:lpstr>Left Navigation Menu Guide</vt:lpstr>
      <vt:lpstr>Gender by Patient Analysis</vt:lpstr>
      <vt:lpstr>Insurance Provider Billing Analysis</vt:lpstr>
      <vt:lpstr>Medical Condition Billing by Gender</vt:lpstr>
      <vt:lpstr>Test Results Billing Breakdown</vt:lpstr>
      <vt:lpstr>Hospital Performance Tree Map</vt:lpstr>
      <vt:lpstr>Monthly Trend Monitoring</vt:lpstr>
      <vt:lpstr>Best Practices for Live Industry Use</vt:lpstr>
      <vt:lpstr>Business Decisions Supported</vt:lpstr>
      <vt:lpstr>Conclusion &amp; Professional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Delight.com</dc:creator>
  <cp:keywords/>
  <dc:description>generated using python-pptx</dc:description>
  <cp:lastModifiedBy>Delight.com</cp:lastModifiedBy>
  <cp:revision>2</cp:revision>
  <dcterms:created xsi:type="dcterms:W3CDTF">2013-01-27T09:14:16Z</dcterms:created>
  <dcterms:modified xsi:type="dcterms:W3CDTF">2026-05-09T08:10:49Z</dcterms:modified>
  <cp:category/>
</cp:coreProperties>
</file>